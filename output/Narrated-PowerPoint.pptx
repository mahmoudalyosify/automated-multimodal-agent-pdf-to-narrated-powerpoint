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wav" ContentType="video/unknown"/>
  <Override PartName="/ppt/media/media2.wav" ContentType="video/unknown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wav"/><Relationship Id="rId4" Type="http://schemas.openxmlformats.org/officeDocument/2006/relationships/video" Target="../media/media1.wav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wav"/><Relationship Id="rId3" Type="http://schemas.openxmlformats.org/officeDocument/2006/relationships/video" Target="../media/media2.wav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0" y="1285875"/>
            <a:ext cx="4286250" cy="111442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FFFFFF"/>
                </a:solidFill>
              </a:defRPr>
            </a:pPr>
            <a:r>
              <a:t>Introduction to Generative Artificial Intelligence (GenAI): Emergence and Significance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357437"/>
            <a:ext cx="42862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ctr">
              <a:lnSpc>
                <a:spcPct val="115000"/>
              </a:lnSpc>
              <a:defRPr sz="1800">
                <a:solidFill>
                  <a:srgbClr val="FFFFFF"/>
                </a:solidFill>
              </a:defRPr>
            </a:pPr>
            <a:r>
              <a:t>By the end of this study, learners should understand the emergence and significance of Generative Ar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43125" y="3214687"/>
            <a:ext cx="485775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slide_01_audio.wav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03920" y="450342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Defining Generative AI: Core Concepts and Distinctions from Traditional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master the fundamental distinctions between generative AI and traditional mac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Generative artificial intelligence 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Supervised learning as a subset of 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The centrality of predictive perfor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Generative AI tools have achieved human-level performance on academic and professional benchmar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Traditional supervised learning relies on labeled examples to train prediction rules, such as 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simplicity of focusing solely on predictive performance, rather than causality or statistic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rapid adoption of generative AI, exemplified by OpenAI's ChatGPT reaching one million users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generative AI encompasses models for various modalities, large language models (LLMs) hav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2</a:t>
            </a:r>
          </a:p>
        </p:txBody>
      </p:sp>
      <p:pic>
        <p:nvPicPr>
          <p:cNvPr id="23" name="slide_02_audio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503920" y="450342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Taxonomy of GenAI-Related Disciplines: A Comprehensive Classification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master the foundational principles and practical applications of key discipli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The primacy of prediction as the 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The distributional hypothesis in co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Contrastive learning, an unsupervis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In machine learning, the success of a prediction rule is measured by its ability to make reason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distributional hypothesis underpins many modern natural language processing techniques, as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Contrastive learning leverages unlabeled data to create pretext tasks, such as distinguishing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Word2Vec’s vector representations not only capture semantic nuances but also prove invaluable 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Machine learning’s strength lies in its ability to reframe a wide array of problems—from predic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From Research Demos to Production-Grade Tools: The Evolutionary Trajectory of GenAI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understand the transformative journey of generative AI technologies from expe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Generative Artificial Intelligence 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Large Language Models (LLMs) that g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Prompt engineering—the deliberate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Generative AI technologies have transitioned rapidly from research demonstrations to accessible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economic and operational impact of GenAI is already measurable: the number of job postings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GenAI encompasses models that generate diverse content types—including images, audio, 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At their core, LLMs operate on a deceptively simple mechanism: predicting the next word in a 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Successful commercial deployments of GenAI are already evident, such as Adobe’s use of image-ba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Modalities of GenAI: Text, Audio, Video, and Code Generation Capabilities Explored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understand the diverse modalities of Generative AI—particularly text, audio, 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Generative Artificial Intelligence 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Large Language Models (LLMs) as a d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Prompt engineering, the practice of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Generative AI tools have achieved human-level performance on academic and professional benchmar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GenAI encompasses multiple modalities, large language models (LLMs) dominate usage due 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Modern language models maintain coherence over large bodies of text by tracking the initial pro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Supervised learning relies on the assumption that a prediction rule trained on labeled data wil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Early neural networks like Recurrent Neural Networks (RNNs) introduced memory into text process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Underlying Principles of GenAI: Probabilistic Models and Statistical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grasp the foundational principles that distinguish generative AI—particularly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Large language models (LLMs) as 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Prompt engineering and the critical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Performance-resource tradeoffs in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Generative AI, particularly large language models, operates on probabilistic foundations, gener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quality and structure of the initial prompt significantly influence the utility and accurac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LLMs dominate current GenAI applications due to their versatility in language-based tasks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Generative models introduce unique tradeoffs, such as the balance between computational resourc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probabilistic nature of language models, combined with mechanisms for gathering user feedba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Language Models Unveiled: Mechanics of Next-Token Prediction and Context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the end of this study, learners should understand the core mechanics of next-token prediction in large language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Next-token prediction as the founda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Context windows (or prompts) as the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In-context learning, a paradigm whe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Modern language models distinguish themselves from earlier generations by maintaining awareness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primary measure of success for language models is their ability to make reasonable predicti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traditional supervised learning relies on carefully curated datasets tailored to specific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introduction of in-context learning in models like GPT-3 has revolutionized the practical 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Despite the computational efficiency of in-context learning, fine-tuning may still offer perfor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Stochasticity in GenAI: The Role of Randomness in Generating Diverse and Plausible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understand the fundamental role of stochasticity in generative AI, particular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Stochasticity in generative AI refe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Prompt engineering is the practice 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Beam Search is a systematic search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stochastic nature of generative AI models, such as ChatGPT, is what allows them to produce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Replacing the stochastic sampling step with a greedy, deterministic approach—where the most lik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Prompt engineering has emerged as a critical skill in leveraging generative AI, as artfully cra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generative AI encompasses a broad range of modalities, including audio, video, and code, 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Modern language models differ from earlier generations by maintaining awareness of the initial 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Prompt Engineering: How Initial Context Shapes GenAI Outputs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master how the initial context—known as the prompt—fundamentally shapes the o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Prompt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Beam 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In-Context Learning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Prompt engineering refers to the deliberate structuring of initial text inputs to elicit more 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Unlike earlier models, modern language models maintain awareness of the initial prompt througho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In-context learning is a method that allows pre-trained language models to adapt to new tasks 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Generative AI tools, such as large language models, have achieved human-level performance on be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fine-tuning a model may still offer performance gains for certain tasks, the gap between 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Case Study: Image Generation with Midjourney – Techniques and Creative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understand the role and capabilities of image-based generative AI models like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Generative AI models and their vari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Supervised learning as a foundation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The limitations of pre-deep-learnin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large language models (LLMs) dominate the current landscape of generative AI due to their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Supervised learning aims to create prediction rules that generalize well to unseen data by leve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Before the advent of deep learning, supervised algorithms struggled with visual and auditory 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Deep learning transformed machine learning by automating representation learning through multi-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Generative AI models like Midjourney introduce randomness through stochastic sampling, allowing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Case Study: Code Generation with GitHub Copilot – Transforming Software Development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understand how GitHub Copilot exemplifies the practical application of code-b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Generative Artificial Intelligence 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Large Language Models (LLMs) that g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Supervised learning as a machine 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GitHub Copilot demonstrates the successful commercial deployment of code-based generative AI 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generative AI models span multiple modalities, including audio, video, and images, this 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core functionality of a language model lies in its ability to predict the next word in a 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Generative AI tools have achieved human-level performance on academic and professional benchmar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Introducing randomness by sampling from the probability distribution of next-word predictions—r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14375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8625" y="142875"/>
            <a:ext cx="8286750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FFFFFF"/>
                </a:solidFill>
              </a:defRPr>
            </a:pPr>
            <a:r>
              <a:t>Ethical, Societal, and Operational Implications of Deploying GenAI in Real-World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625" y="785812"/>
            <a:ext cx="8286750" cy="371475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i="1">
                <a:solidFill>
                  <a:srgbClr val="10B981"/>
                </a:solidFill>
              </a:defRPr>
            </a:pPr>
            <a:r>
              <a:t>By studying this material, learners should understand the foundational principles and real-world implications of deployi</a:t>
            </a:r>
          </a:p>
        </p:txBody>
      </p:sp>
      <p:sp>
        <p:nvSpPr>
          <p:cNvPr id="5" name="Rectangle 4"/>
          <p:cNvSpPr/>
          <p:nvPr/>
        </p:nvSpPr>
        <p:spPr>
          <a:xfrm>
            <a:off x="428625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5781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Generative Artificial Intelligence </a:t>
            </a:r>
          </a:p>
        </p:txBody>
      </p:sp>
      <p:sp>
        <p:nvSpPr>
          <p:cNvPr id="7" name="Rectangle 6"/>
          <p:cNvSpPr/>
          <p:nvPr/>
        </p:nvSpPr>
        <p:spPr>
          <a:xfrm>
            <a:off x="3071812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968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Large Language Models (LLMs) as a d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1143000"/>
            <a:ext cx="2500312" cy="250031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2156" y="1178718"/>
            <a:ext cx="228600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FFFFFF"/>
                </a:solidFill>
              </a:defRPr>
            </a:pPr>
            <a:r>
              <a:t>Prompt engineering as the practice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893093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5812" y="1857375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Generative AI tools have achieved human-level performance on academic and professional benchmar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214562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812" y="2178843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rapid adoption of GenAI is evident in its exponential user growth—OpenAI’s ChatGPT reached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536031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5812" y="2500312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While GenAI encompasses a broad range of modalities, including image and code generation, large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857500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812" y="2821781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deployment of GenAI in real-world scenarios introduces significant ethical, societal, and 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178968"/>
            <a:ext cx="57150" cy="5715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812" y="3143250"/>
            <a:ext cx="7858125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1F2937"/>
                </a:solidFill>
              </a:defRPr>
            </a:pPr>
            <a:r>
              <a:t>The speculative nature of GenAI’s long-term impact reflects its position in the early stages of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625" y="5000625"/>
            <a:ext cx="8286750" cy="0"/>
          </a:xfrm>
          <a:prstGeom prst="line">
            <a:avLst/>
          </a:prstGeom>
          <a:ln w="381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72500" y="4929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r">
              <a:lnSpc>
                <a:spcPct val="115000"/>
              </a:lnSpc>
              <a:defRPr sz="1100" b="1">
                <a:solidFill>
                  <a:srgbClr val="3B82F6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5725" cy="5143500"/>
          </a:xfrm>
          <a:prstGeom prst="rect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428625"/>
            <a:ext cx="7858125" cy="928687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3300" b="1">
                <a:solidFill>
                  <a:srgbClr val="F59E0B"/>
                </a:solidFill>
              </a:defRPr>
            </a:pPr>
            <a:r>
              <a:t>Synthesis and Key Takeaways: The Future Trajectory and Research Directions in GenAI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00187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500" b="1">
                <a:solidFill>
                  <a:srgbClr val="10B981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687" y="1500187"/>
            <a:ext cx="7500937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FFFFFF"/>
                </a:solidFill>
              </a:defRPr>
            </a:pPr>
            <a:r>
              <a:t>Generative AI tools have achieved human-level performance on academic and professional 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857375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500" b="1">
                <a:solidFill>
                  <a:srgbClr val="10B981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687" y="1857375"/>
            <a:ext cx="7500937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FFFFFF"/>
                </a:solidFill>
              </a:defRPr>
            </a:pPr>
            <a:r>
              <a:t>The adoption of GenAI has been extraordinarily swift, with platforms like OpenAI’s 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214562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500" b="1">
                <a:solidFill>
                  <a:srgbClr val="10B981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687" y="2214562"/>
            <a:ext cx="7500937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FFFFFF"/>
                </a:solidFill>
              </a:defRPr>
            </a:pPr>
            <a:r>
              <a:t>The economic and operational impact of GenAI is already substantial, with the number of 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2571750"/>
            <a:ext cx="731520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500" b="1">
                <a:solidFill>
                  <a:srgbClr val="10B981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687" y="2571750"/>
            <a:ext cx="7500937" cy="36576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l">
              <a:lnSpc>
                <a:spcPct val="115000"/>
              </a:lnSpc>
              <a:defRPr sz="1100">
                <a:solidFill>
                  <a:srgbClr val="FFFFFF"/>
                </a:solidFill>
              </a:defRPr>
            </a:pPr>
            <a:r>
              <a:t>While GenAI encompasses a broad range of modalities, including images, audio, and code, 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143375"/>
            <a:ext cx="7858125" cy="742950"/>
          </a:xfrm>
          <a:prstGeom prst="rect">
            <a:avLst/>
          </a:prstGeom>
          <a:noFill/>
        </p:spPr>
        <p:txBody>
          <a:bodyPr wrap="square" anchor="ctr" bIns="18288" tIns="18288" lIns="36576" rIns="36576">
            <a:spAutoFit/>
          </a:bodyPr>
          <a:lstStyle/>
          <a:p>
            <a:pPr algn="ctr">
              <a:lnSpc>
                <a:spcPct val="115000"/>
              </a:lnSpc>
              <a:defRPr sz="3100" i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