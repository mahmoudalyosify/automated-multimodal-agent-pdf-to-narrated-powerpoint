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0" y="1285875"/>
            <a:ext cx="4286250" cy="1114425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ctr">
              <a:lnSpc>
                <a:spcPct val="115000"/>
              </a:lnSpc>
              <a:defRPr sz="3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357437"/>
            <a:ext cx="4286250" cy="74295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ctr">
              <a:lnSpc>
                <a:spcPct val="115000"/>
              </a:lnSpc>
              <a:defRPr sz="1800">
                <a:solidFill>
                  <a:srgbClr val="FFFFFF"/>
                </a:solidFill>
              </a:defRPr>
            </a:pPr>
            <a:r>
              <a:t>Overview and context of the topic about Introduction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43125" y="3214687"/>
            <a:ext cx="485775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142875"/>
            <a:ext cx="8286750" cy="74295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FFFFFF"/>
                </a:solidFill>
              </a:defRPr>
            </a:pPr>
            <a:r>
              <a:t>Fundamentals -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785812"/>
            <a:ext cx="8286750" cy="371475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i="1">
                <a:solidFill>
                  <a:srgbClr val="10B981"/>
                </a:solidFill>
              </a:defRPr>
            </a:pPr>
            <a:r>
              <a:t>Core concepts and foundational terminology. While generative AI models come in many different shapes, utilizing varied 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625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5781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While generative AI models come in </a:t>
            </a:r>
          </a:p>
        </p:txBody>
      </p:sp>
      <p:sp>
        <p:nvSpPr>
          <p:cNvPr id="7" name="Rectangle 6"/>
          <p:cNvSpPr/>
          <p:nvPr/>
        </p:nvSpPr>
        <p:spPr>
          <a:xfrm>
            <a:off x="3071812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8968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perspective in getting varied respo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2156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assumption that seen data must be 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893093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812" y="1857375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While generative AI models come in many different shapes, utilizing varied statistical and comp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214562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812" y="2178843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This choice is partly due to the substantial lead LLMs have in driving the overall usage of 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2536031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5812" y="2500312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That said, image- and code-based GenAI models have already witnessed successful commercial prod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857500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812" y="2821781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perspective in getting varied responses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3178968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812" y="3143250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From the deployer's perspective, this optionally allows the model to gather user feedback regar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625" y="5000625"/>
            <a:ext cx="8286750" cy="0"/>
          </a:xfrm>
          <a:prstGeom prst="line">
            <a:avLst/>
          </a:prstGeom>
          <a:ln w="381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72500" y="4929187"/>
            <a:ext cx="73152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r">
              <a:lnSpc>
                <a:spcPct val="115000"/>
              </a:lnSpc>
              <a:defRPr sz="1100" b="1">
                <a:solidFill>
                  <a:srgbClr val="3B82F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142875"/>
            <a:ext cx="8286750" cy="74295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FFFFFF"/>
                </a:solidFill>
              </a:defRPr>
            </a:pPr>
            <a:r>
              <a:t>Fundamentals -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785812"/>
            <a:ext cx="8286750" cy="371475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i="1">
                <a:solidFill>
                  <a:srgbClr val="10B981"/>
                </a:solidFill>
              </a:defRPr>
            </a:pPr>
            <a:r>
              <a:t>Essential principles and frameworks. While generative AI models come in many different shapes, utilizing varied statisti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625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5781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While generative AI models come in </a:t>
            </a:r>
          </a:p>
        </p:txBody>
      </p:sp>
      <p:sp>
        <p:nvSpPr>
          <p:cNvPr id="7" name="Rectangle 6"/>
          <p:cNvSpPr/>
          <p:nvPr/>
        </p:nvSpPr>
        <p:spPr>
          <a:xfrm>
            <a:off x="3071812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8968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perspective in getting varied respo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2156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assumption that seen data must be 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893093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812" y="1857375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While generative AI models come in many different shapes, utilizing varied statistical and comp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214562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812" y="2178843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This choice is partly due to the substantial lead LLMs have in driving the overall usage of 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2536031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5812" y="2500312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That said, image- and code-based GenAI models have already witnessed successful commercial prod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857500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812" y="2821781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perspective in getting varied responses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3178968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812" y="3143250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From the deployer's perspective, this optionally allows the model to gather user feedback regar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625" y="5000625"/>
            <a:ext cx="8286750" cy="0"/>
          </a:xfrm>
          <a:prstGeom prst="line">
            <a:avLst/>
          </a:prstGeom>
          <a:ln w="381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72500" y="4929187"/>
            <a:ext cx="73152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r">
              <a:lnSpc>
                <a:spcPct val="115000"/>
              </a:lnSpc>
              <a:defRPr sz="1100" b="1">
                <a:solidFill>
                  <a:srgbClr val="3B82F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142875"/>
            <a:ext cx="8286750" cy="74295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FFFFFF"/>
                </a:solidFill>
              </a:defRPr>
            </a:pPr>
            <a:r>
              <a:t>Theory and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785812"/>
            <a:ext cx="8286750" cy="371475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i="1">
                <a:solidFill>
                  <a:srgbClr val="10B981"/>
                </a:solidFill>
              </a:defRPr>
            </a:pPr>
            <a:r>
              <a:t>Historical context and theoretical foundations. Generative artificial intelligence (GenAI) tools are an emerging class o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625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5781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Generative artificial intelligence </a:t>
            </a:r>
          </a:p>
        </p:txBody>
      </p:sp>
      <p:sp>
        <p:nvSpPr>
          <p:cNvPr id="7" name="Rectangle 6"/>
          <p:cNvSpPr/>
          <p:nvPr/>
        </p:nvSpPr>
        <p:spPr>
          <a:xfrm>
            <a:off x="3071812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8968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This rapid progress has led many 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2156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What are these new-era AI technolog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893093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812" y="1857375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Generative artificial intelligence (GenAI) tools are an emerging class of new-age artificial 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214562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812" y="2178843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Recent advances in machine learning (ML), massive datasets, and substantial increases in comput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2536031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5812" y="2500312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This rapid progress has led many to to believe that the metamorphosis of these technologies 2fr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857500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812" y="2821781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It took OpenAI's ChatGPT, a conversational web app based on a generative (multimodal) language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3178968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812" y="3143250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On the business side, the Economist reports that the number of jobs mentioning AI-related skill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625" y="5000625"/>
            <a:ext cx="8286750" cy="0"/>
          </a:xfrm>
          <a:prstGeom prst="line">
            <a:avLst/>
          </a:prstGeom>
          <a:ln w="381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72500" y="4929187"/>
            <a:ext cx="73152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r">
              <a:lnSpc>
                <a:spcPct val="115000"/>
              </a:lnSpc>
              <a:defRPr sz="1100" b="1">
                <a:solidFill>
                  <a:srgbClr val="3B82F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142875"/>
            <a:ext cx="8286750" cy="74295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FFFFFF"/>
                </a:solidFill>
              </a:defRPr>
            </a:pPr>
            <a:r>
              <a:t>Key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785812"/>
            <a:ext cx="8286750" cy="371475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i="1">
                <a:solidFill>
                  <a:srgbClr val="10B981"/>
                </a:solidFill>
              </a:defRPr>
            </a:pPr>
            <a:r>
              <a:t>Main principles and guidelines. What are these new-era AI technologies? How do they function? What principles do they op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625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5781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What are these new-era AI technolog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3071812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8968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Key aspect of Key Principles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2156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Key aspect of Key Principles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893093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812" y="1857375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What are these new-era AI technologies? How do they function? What principles do they operate 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214562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812" y="2178843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The report will also tease out how this understanding foundationally informs the best uses (and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2536031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5812" y="2500312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Important aspect of Key Principles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857500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812" y="2821781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Important aspect of Key Principles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3178968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812" y="3143250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Important aspect of Key Principles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625" y="5000625"/>
            <a:ext cx="8286750" cy="0"/>
          </a:xfrm>
          <a:prstGeom prst="line">
            <a:avLst/>
          </a:prstGeom>
          <a:ln w="381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72500" y="4929187"/>
            <a:ext cx="73152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r">
              <a:lnSpc>
                <a:spcPct val="115000"/>
              </a:lnSpc>
              <a:defRPr sz="1100" b="1">
                <a:solidFill>
                  <a:srgbClr val="3B82F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142875"/>
            <a:ext cx="8286750" cy="74295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FFFFFF"/>
                </a:solidFill>
              </a:defRPr>
            </a:pPr>
            <a:r>
              <a:t>Implementation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785812"/>
            <a:ext cx="8286750" cy="371475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i="1">
                <a:solidFill>
                  <a:srgbClr val="10B981"/>
                </a:solidFill>
              </a:defRPr>
            </a:pPr>
            <a:r>
              <a:t>Practical approaches and methodologies. While word embeddings serve as proof that textual semantic regularities can be 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625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5781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While word embeddings serve as proo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71812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8968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Key aspect of Implementation 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2156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Key aspect of Implementation 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893093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812" y="1857375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While word embeddings serve as proof that textual semantic regularities can be assessed without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214562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812" y="2178843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For example, a common motif in stories is that the next act derives from some event that occurr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2536031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5812" y="2500312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Important aspect of Implementation Methods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857500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812" y="2821781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Important aspect of Implementation Methods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3178968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812" y="3143250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Important aspect of Implementation Methods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625" y="5000625"/>
            <a:ext cx="8286750" cy="0"/>
          </a:xfrm>
          <a:prstGeom prst="line">
            <a:avLst/>
          </a:prstGeom>
          <a:ln w="381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72500" y="4929187"/>
            <a:ext cx="73152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r">
              <a:lnSpc>
                <a:spcPct val="115000"/>
              </a:lnSpc>
              <a:defRPr sz="1100" b="1">
                <a:solidFill>
                  <a:srgbClr val="3B82F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142875"/>
            <a:ext cx="8286750" cy="74295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FFFFFF"/>
                </a:solidFill>
              </a:defRPr>
            </a:pPr>
            <a:r>
              <a:t>Advanced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785812"/>
            <a:ext cx="8286750" cy="371475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i="1">
                <a:solidFill>
                  <a:srgbClr val="10B981"/>
                </a:solidFill>
              </a:defRPr>
            </a:pPr>
            <a:r>
              <a:t>Advanced implementations and optimizations. While generative AI models come in many different shapes, utilizing varied 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625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5781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While generative AI models come in </a:t>
            </a:r>
          </a:p>
        </p:txBody>
      </p:sp>
      <p:sp>
        <p:nvSpPr>
          <p:cNvPr id="7" name="Rectangle 6"/>
          <p:cNvSpPr/>
          <p:nvPr/>
        </p:nvSpPr>
        <p:spPr>
          <a:xfrm>
            <a:off x="3071812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8968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We start with the most well-underst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2156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Key aspect of Advanced Techniques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893093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812" y="1857375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While generative AI models come in many different shapes, utilizing varied statistical and comp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214562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812" y="2178843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This choice is partly due to the substantial lead LLMs have in driving the overall usage of 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2536031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5812" y="2500312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That said, image- and code-based GenAI models have already witnessed successful commercial prod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857500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812" y="2821781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We start with the most well-understood subset of machine learning techniques: supervised learni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3178968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812" y="3143250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The central objective in supervised learning is to produce a prediction rule that predicts well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625" y="5000625"/>
            <a:ext cx="8286750" cy="0"/>
          </a:xfrm>
          <a:prstGeom prst="line">
            <a:avLst/>
          </a:prstGeom>
          <a:ln w="381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72500" y="4929187"/>
            <a:ext cx="73152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r">
              <a:lnSpc>
                <a:spcPct val="115000"/>
              </a:lnSpc>
              <a:defRPr sz="1100" b="1">
                <a:solidFill>
                  <a:srgbClr val="3B82F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142875"/>
            <a:ext cx="8286750" cy="74295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FFFFFF"/>
                </a:solidFill>
              </a:defRPr>
            </a:pPr>
            <a:r>
              <a:t>Real-World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785812"/>
            <a:ext cx="8286750" cy="371475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i="1">
                <a:solidFill>
                  <a:srgbClr val="10B981"/>
                </a:solidFill>
              </a:defRPr>
            </a:pPr>
            <a:r>
              <a:t>Case studies and practical examples about Real-World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625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5781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Karan Singh, Assistant Professor of</a:t>
            </a:r>
          </a:p>
        </p:txBody>
      </p:sp>
      <p:sp>
        <p:nvSpPr>
          <p:cNvPr id="7" name="Rectangle 6"/>
          <p:cNvSpPr/>
          <p:nvPr/>
        </p:nvSpPr>
        <p:spPr>
          <a:xfrm>
            <a:off x="3071812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8968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Generative artificial intelligence 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2156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This rapid progress has led many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893093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812" y="1857375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Karan Singh, Assistant Professor of Operations Research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214562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812" y="2178843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Generative artificial intelligence (GenAI) tools are an emerging class of new-age artificial 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2536031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5812" y="2500312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Recent advances in machine learning (ML), massive datasets, and substantial increases in comput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857500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812" y="2821781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This rapid progress has led many to to believe that the metamorphosis of these technologies 2fr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3178968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812" y="3143250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It took OpenAI's ChatGPT, a conversational web app based on a generative (multimodal) language 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625" y="5000625"/>
            <a:ext cx="8286750" cy="0"/>
          </a:xfrm>
          <a:prstGeom prst="line">
            <a:avLst/>
          </a:prstGeom>
          <a:ln w="381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72500" y="4929187"/>
            <a:ext cx="73152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r">
              <a:lnSpc>
                <a:spcPct val="115000"/>
              </a:lnSpc>
              <a:defRPr sz="1100" b="1">
                <a:solidFill>
                  <a:srgbClr val="3B82F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142875"/>
            <a:ext cx="8286750" cy="74295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FFFFFF"/>
                </a:solidFill>
              </a:defRPr>
            </a:pPr>
            <a:r>
              <a:t>Applications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785812"/>
            <a:ext cx="8286750" cy="371475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i="1">
                <a:solidFill>
                  <a:srgbClr val="10B981"/>
                </a:solidFill>
              </a:defRPr>
            </a:pPr>
            <a:r>
              <a:t>More application examples and use cases about Applications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625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5781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Karan Singh, Assistant Professor of</a:t>
            </a:r>
          </a:p>
        </p:txBody>
      </p:sp>
      <p:sp>
        <p:nvSpPr>
          <p:cNvPr id="7" name="Rectangle 6"/>
          <p:cNvSpPr/>
          <p:nvPr/>
        </p:nvSpPr>
        <p:spPr>
          <a:xfrm>
            <a:off x="3071812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8968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Generative artificial intelligence 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2156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This rapid progress has led many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893093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812" y="1857375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Karan Singh, Assistant Professor of Operations Research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214562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812" y="2178843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Generative artificial intelligence (GenAI) tools are an emerging class of new-age artificial 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2536031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5812" y="2500312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Recent advances in machine learning (ML), massive datasets, and substantial increases in comput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857500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812" y="2821781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This rapid progress has led many to to believe that the metamorphosis of these technologies 2fr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3178968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812" y="3143250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It took OpenAI's ChatGPT, a conversational web app based on a generative (multimodal) language 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625" y="5000625"/>
            <a:ext cx="8286750" cy="0"/>
          </a:xfrm>
          <a:prstGeom prst="line">
            <a:avLst/>
          </a:prstGeom>
          <a:ln w="381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72500" y="4929187"/>
            <a:ext cx="73152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r">
              <a:lnSpc>
                <a:spcPct val="115000"/>
              </a:lnSpc>
              <a:defRPr sz="1100" b="1">
                <a:solidFill>
                  <a:srgbClr val="3B82F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142875"/>
            <a:ext cx="8286750" cy="74295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785812"/>
            <a:ext cx="8286750" cy="371475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i="1">
                <a:solidFill>
                  <a:srgbClr val="10B981"/>
                </a:solidFill>
              </a:defRPr>
            </a:pPr>
            <a:r>
              <a:t>Recommended practices and common pitfalls. What are these new-era AI technologies? How do they function? What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625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5781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What are these new-era AI technolog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3071812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8968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produce a completion conditioned 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2156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We start with the most well-underst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893093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812" y="1857375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What are these new-era AI technologies? How do they function? What principles do they operate 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214562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812" y="2178843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The report will also tease out how this understanding foundationally informs the best uses (and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2536031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5812" y="2500312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produce a completion conditioned on the initial set of words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857500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812" y="2821781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In this way, the initial context window, termed prompt, matters crucially to the produced compl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3178968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812" y="3143250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One hallmark of modern language models is that they keep track of the initial prompt even when 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625" y="5000625"/>
            <a:ext cx="8286750" cy="0"/>
          </a:xfrm>
          <a:prstGeom prst="line">
            <a:avLst/>
          </a:prstGeom>
          <a:ln w="381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72500" y="4929187"/>
            <a:ext cx="73152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r">
              <a:lnSpc>
                <a:spcPct val="115000"/>
              </a:lnSpc>
              <a:defRPr sz="1100" b="1">
                <a:solidFill>
                  <a:srgbClr val="3B82F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142875"/>
            <a:ext cx="8286750" cy="74295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FFFFFF"/>
                </a:solidFill>
              </a:defRPr>
            </a:pPr>
            <a:r>
              <a:t>Limitations and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785812"/>
            <a:ext cx="8286750" cy="371475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i="1">
                <a:solidFill>
                  <a:srgbClr val="10B981"/>
                </a:solidFill>
              </a:defRPr>
            </a:pPr>
            <a:r>
              <a:t>Constraints, limitations, and solutions. Generative artificial intelligence (GenAI) tools are an emerging class of new-a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625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5781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Generative artificial intelligence </a:t>
            </a:r>
          </a:p>
        </p:txBody>
      </p:sp>
      <p:sp>
        <p:nvSpPr>
          <p:cNvPr id="7" name="Rectangle 6"/>
          <p:cNvSpPr/>
          <p:nvPr/>
        </p:nvSpPr>
        <p:spPr>
          <a:xfrm>
            <a:off x="3071812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8968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This rapid progress has led many 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2156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What are these new-era AI technolog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893093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812" y="1857375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Generative artificial intelligence (GenAI) tools are an emerging class of new-age artificial 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214562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812" y="2178843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Recent advances in machine learning (ML), massive datasets, and substantial increases in comput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2536031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5812" y="2500312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This rapid progress has led many to to believe that the metamorphosis of these technologies 2fr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857500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812" y="2821781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It took OpenAI's ChatGPT, a conversational web app based on a generative (multimodal) language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3178968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812" y="3143250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On the business side, the Economist reports that the number of jobs mentioning AI-related skill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625" y="5000625"/>
            <a:ext cx="8286750" cy="0"/>
          </a:xfrm>
          <a:prstGeom prst="line">
            <a:avLst/>
          </a:prstGeom>
          <a:ln w="381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72500" y="4929187"/>
            <a:ext cx="73152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r">
              <a:lnSpc>
                <a:spcPct val="115000"/>
              </a:lnSpc>
              <a:defRPr sz="1100" b="1">
                <a:solidFill>
                  <a:srgbClr val="3B82F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142875"/>
            <a:ext cx="8286750" cy="74295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FFFFFF"/>
                </a:solidFill>
              </a:defRPr>
            </a:pPr>
            <a:r>
              <a:t>Future Developments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785812"/>
            <a:ext cx="8286750" cy="371475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i="1">
                <a:solidFill>
                  <a:srgbClr val="10B981"/>
                </a:solidFill>
              </a:defRPr>
            </a:pPr>
            <a:r>
              <a:t>Emerging trends and research directions. What are these new-era AI technologies? How do they function? What principles d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625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5781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What are these new-era AI technolog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3071812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8968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We address these questions indirect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143000"/>
            <a:ext cx="2500312" cy="250031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2156" y="1178718"/>
            <a:ext cx="228600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Key aspect of Future Developments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893093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812" y="1857375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What are these new-era AI technologies? How do they function? What principles do they operate 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214562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812" y="2178843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The report will also tease out how this understanding foundationally informs the best uses (and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2536031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5812" y="2500312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We address these questions indirectly in the present section by taking a tour of the essential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857500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812" y="2821781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Important aspect of Future Developments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3178968"/>
            <a:ext cx="57150" cy="5715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812" y="3143250"/>
            <a:ext cx="7858125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1F2937"/>
                </a:solidFill>
              </a:defRPr>
            </a:pPr>
            <a:r>
              <a:t>Important aspect of Future Developments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625" y="5000625"/>
            <a:ext cx="8286750" cy="0"/>
          </a:xfrm>
          <a:prstGeom prst="line">
            <a:avLst/>
          </a:prstGeom>
          <a:ln w="381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72500" y="4929187"/>
            <a:ext cx="73152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r">
              <a:lnSpc>
                <a:spcPct val="115000"/>
              </a:lnSpc>
              <a:defRPr sz="1100" b="1">
                <a:solidFill>
                  <a:srgbClr val="3B82F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5725" cy="514350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428625"/>
            <a:ext cx="7858125" cy="928687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3300" b="1">
                <a:solidFill>
                  <a:srgbClr val="F59E0B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500187"/>
            <a:ext cx="73152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5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687" y="1500187"/>
            <a:ext cx="7500937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FFFFFF"/>
                </a:solidFill>
              </a:defRPr>
            </a:pPr>
            <a:r>
              <a:t>Karan Singh, Assistant Professor of Operations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857375"/>
            <a:ext cx="73152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5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687" y="1857375"/>
            <a:ext cx="7500937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FFFFFF"/>
                </a:solidFill>
              </a:defRPr>
            </a:pPr>
            <a:r>
              <a:t>Generative artificial intelligence (GenAI) tools are an emerging class of new-age artifici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214562"/>
            <a:ext cx="73152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5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687" y="2214562"/>
            <a:ext cx="7500937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FFFFFF"/>
                </a:solidFill>
              </a:defRPr>
            </a:pPr>
            <a:r>
              <a:t>Recent advances in machine learning (ML), massive datasets, and substantial increases in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571750"/>
            <a:ext cx="731520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5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687" y="2571750"/>
            <a:ext cx="7500937" cy="36576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l">
              <a:lnSpc>
                <a:spcPct val="115000"/>
              </a:lnSpc>
              <a:defRPr sz="1100">
                <a:solidFill>
                  <a:srgbClr val="FFFFFF"/>
                </a:solidFill>
              </a:defRPr>
            </a:pPr>
            <a:r>
              <a:t>This rapid progress has led many to to believe that the metamorphosis of these technologie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143375"/>
            <a:ext cx="7858125" cy="742950"/>
          </a:xfrm>
          <a:prstGeom prst="rect">
            <a:avLst/>
          </a:prstGeom>
          <a:noFill/>
        </p:spPr>
        <p:txBody>
          <a:bodyPr wrap="square" anchor="ctr" bIns="18288" tIns="18288" lIns="36576" rIns="36576">
            <a:spAutoFit/>
          </a:bodyPr>
          <a:lstStyle/>
          <a:p>
            <a:pPr algn="ctr">
              <a:lnSpc>
                <a:spcPct val="115000"/>
              </a:lnSpc>
              <a:defRPr sz="3100" i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