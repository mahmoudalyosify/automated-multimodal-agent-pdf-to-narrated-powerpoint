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(Billions USD)</c:v>
                </c:pt>
              </c:strCache>
            </c:strRef>
          </c:tx>
          <c:spPr>
            <a:solidFill>
              <a:srgbClr val="FF6B35"/>
            </a:solidFill>
          </c:spPr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14.0</c:v>
                </c:pt>
                <c:pt idx="1">
                  <c:v>42.0</c:v>
                </c:pt>
                <c:pt idx="2">
                  <c:v>98.0</c:v>
                </c:pt>
                <c:pt idx="3">
                  <c:v>180.0</c:v>
                </c:pt>
                <c:pt idx="4">
                  <c:v>310.0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Healthcare</c:v>
                </c:pt>
                <c:pt idx="1">
                  <c:v>Finance</c:v>
                </c:pt>
                <c:pt idx="2">
                  <c:v>Enterprise</c:v>
                </c:pt>
                <c:pt idx="3">
                  <c:v>Creative</c:v>
                </c:pt>
                <c:pt idx="4">
                  <c:v>Education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22.0</c:v>
                </c:pt>
                <c:pt idx="1">
                  <c:v>18.0</c:v>
                </c:pt>
                <c:pt idx="2">
                  <c:v>25.0</c:v>
                </c:pt>
                <c:pt idx="3">
                  <c:v>15.0</c:v>
                </c:pt>
                <c:pt idx="4">
                  <c:v>12.0</c:v>
                </c:pt>
                <c:pt idx="5">
                  <c:v>8.0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1905000"/>
            <a:ext cx="10287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AI &amp; Generative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3333750"/>
            <a:ext cx="10287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>
                <a:solidFill>
                  <a:srgbClr val="00D9FF"/>
                </a:solidFill>
              </a:rPr>
              <a:t>The Future of Intelligence in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4572000"/>
            <a:ext cx="10287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E0E0E0"/>
                </a:solidFill>
              </a:rPr>
              <a:t>Trends, Applications &amp;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285750"/>
            <a:ext cx="112395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0066CC"/>
                </a:solidFill>
              </a:rPr>
              <a:t>What is Generative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143000"/>
            <a:ext cx="10668000" cy="476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A1A2E"/>
                </a:solidFill>
              </a:rPr>
              <a:t>Generative AI uses machine learning models to create new content: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8750" y="1905000"/>
            <a:ext cx="9525000" cy="3333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>
                <a:solidFill>
                  <a:srgbClr val="333333"/>
                </a:solidFill>
              </a:rPr>
              <a:t>• Text: Essays, Code, Stories</a:t>
            </a:r>
            <a:br/>
            <a:r>
              <a:t>• Images: Photos, Art, Designs</a:t>
            </a:r>
            <a:br/>
            <a:r>
              <a:t>• Video: Animations, Deepfakes</a:t>
            </a:r>
            <a:br/>
            <a:r>
              <a:t>• Audio: Music, Voice Synthesis</a:t>
            </a:r>
            <a:br/>
            <a:r>
              <a:t>• Data: Synthetic Training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285750"/>
            <a:ext cx="112395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0066CC"/>
                </a:solidFill>
              </a:rPr>
              <a:t>Market Growth Projections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143000"/>
          <a:ext cx="10287000" cy="5238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285750"/>
            <a:ext cx="112395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0066CC"/>
                </a:solidFill>
              </a:rPr>
              <a:t>Key Technologies Advancing in 2027</a:t>
            </a:r>
          </a:p>
        </p:txBody>
      </p:sp>
      <p:sp>
        <p:nvSpPr>
          <p:cNvPr id="3" name="Rectangle 2"/>
          <p:cNvSpPr/>
          <p:nvPr/>
        </p:nvSpPr>
        <p:spPr>
          <a:xfrm>
            <a:off x="952500" y="1238250"/>
            <a:ext cx="3333750" cy="1905000"/>
          </a:xfrm>
          <a:prstGeom prst="rect">
            <a:avLst/>
          </a:prstGeom>
          <a:solidFill>
            <a:srgbClr val="0066CC"/>
          </a:solidFill>
          <a:ln w="25400">
            <a:solidFill>
              <a:srgbClr val="00339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1238250"/>
            <a:ext cx="3333750" cy="19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Large Language Models</a:t>
            </a:r>
            <a:br/>
            <a:r>
              <a:t>(LLMs)</a:t>
            </a:r>
            <a:br/>
            <a:br/>
            <a:r>
              <a:t>GPT-7, Claude 3+</a:t>
            </a:r>
            <a:br/>
            <a:r>
              <a:t>Multilingual &amp; Multimodal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762500" y="1238250"/>
            <a:ext cx="3333750" cy="1905000"/>
          </a:xfrm>
          <a:prstGeom prst="rect">
            <a:avLst/>
          </a:prstGeom>
          <a:solidFill>
            <a:srgbClr val="FF6B35"/>
          </a:solidFill>
          <a:ln w="25400">
            <a:solidFill>
              <a:srgbClr val="CC44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62500" y="1238250"/>
            <a:ext cx="3333750" cy="19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Multimodal AI</a:t>
            </a:r>
            <a:br/>
            <a:br/>
            <a:r>
              <a:t>Text + Image + Video</a:t>
            </a:r>
            <a:br/>
            <a:r>
              <a:t>Unified Understanding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572500" y="1238250"/>
            <a:ext cx="2667000" cy="1905000"/>
          </a:xfrm>
          <a:prstGeom prst="rect">
            <a:avLst/>
          </a:prstGeom>
          <a:solidFill>
            <a:srgbClr val="00D9FF"/>
          </a:solidFill>
          <a:ln w="25400">
            <a:solidFill>
              <a:srgbClr val="0099C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0" y="1238250"/>
            <a:ext cx="2667000" cy="19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A1A2E"/>
                </a:solidFill>
              </a:rPr>
              <a:t>Edge AI</a:t>
            </a:r>
            <a:br/>
            <a:br/>
            <a:r>
              <a:t>On-Device Models</a:t>
            </a:r>
            <a:br/>
            <a:r>
              <a:t>Privacy-First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952500" y="3619500"/>
            <a:ext cx="3333750" cy="1905000"/>
          </a:xfrm>
          <a:prstGeom prst="rect">
            <a:avLst/>
          </a:prstGeom>
          <a:solidFill>
            <a:srgbClr val="6B0066"/>
          </a:solidFill>
          <a:ln w="25400">
            <a:solidFill>
              <a:srgbClr val="4A004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500" y="3619500"/>
            <a:ext cx="3333750" cy="19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Reasoning AI</a:t>
            </a:r>
            <a:br/>
            <a:br/>
            <a:r>
              <a:t>Chain-of-Thought</a:t>
            </a:r>
            <a:br/>
            <a:r>
              <a:t>Complex Problem Solving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2500" y="3619500"/>
            <a:ext cx="3333750" cy="1905000"/>
          </a:xfrm>
          <a:prstGeom prst="rect">
            <a:avLst/>
          </a:prstGeom>
          <a:solidFill>
            <a:srgbClr val="009900"/>
          </a:solidFill>
          <a:ln w="25400">
            <a:solidFill>
              <a:srgbClr val="0066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2500" y="3619500"/>
            <a:ext cx="3333750" cy="19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Agentic AI</a:t>
            </a:r>
            <a:br/>
            <a:br/>
            <a:r>
              <a:t>Autonomous Systems</a:t>
            </a:r>
            <a:br/>
            <a:r>
              <a:t>Goal-Oriented Tasks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72500" y="3619500"/>
            <a:ext cx="2667000" cy="1905000"/>
          </a:xfrm>
          <a:prstGeom prst="rect">
            <a:avLst/>
          </a:prstGeom>
          <a:solidFill>
            <a:srgbClr val="FF9900"/>
          </a:solidFill>
          <a:ln w="25400">
            <a:solidFill>
              <a:srgbClr val="CC66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500" y="3619500"/>
            <a:ext cx="2667000" cy="19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Efficient LLMs</a:t>
            </a:r>
            <a:br/>
            <a:br/>
            <a:r>
              <a:t>Smaller Models</a:t>
            </a:r>
            <a:br/>
            <a:r>
              <a:t>Low Power Usage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285750"/>
            <a:ext cx="112395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0066CC"/>
                </a:solidFill>
              </a:rPr>
              <a:t>GenAI Applications Across Industries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76250" y="1143000"/>
          <a:ext cx="5238750" cy="5238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191250" y="1428750"/>
            <a:ext cx="5524500" cy="476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333333"/>
                </a:solidFill>
              </a:rPr>
              <a:t>Key Use Cases:</a:t>
            </a:r>
            <a:br/>
            <a:br/>
            <a:r>
              <a:t>✓ Healthcare: Drug discovery, diagnostics</a:t>
            </a:r>
            <a:br/>
            <a:r>
              <a:t>✓ Finance: Fraud detection, trading</a:t>
            </a:r>
            <a:br/>
            <a:r>
              <a:t>✓ Enterprise: Automation, customer service</a:t>
            </a:r>
            <a:br/>
            <a:r>
              <a:t>✓ Creative: Content, design, media</a:t>
            </a:r>
            <a:br/>
            <a:r>
              <a:t>✓ Education: Tutoring, assessment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285750"/>
            <a:ext cx="112395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6B35"/>
                </a:solidFill>
              </a:rPr>
              <a:t>Challenges &amp; Ethical Concerns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238250"/>
            <a:ext cx="9906000" cy="5238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>
                <a:solidFill>
                  <a:srgbClr val="333333"/>
                </a:solidFill>
              </a:rPr>
              <a:t>⚠ Bias &amp; Fairness: AI models may reflect training data biases</a:t>
            </a:r>
            <a:br/>
            <a:br/>
            <a:r>
              <a:t>⚠ Data Privacy: Large data requirements raise privacy concerns</a:t>
            </a:r>
            <a:br/>
            <a:br/>
            <a:r>
              <a:t>⚠ Job Displacement: Automation affecting workforce</a:t>
            </a:r>
            <a:br/>
            <a:br/>
            <a:r>
              <a:t>⚠ Misinformation: Deepfakes and synthetic content</a:t>
            </a:r>
            <a:br/>
            <a:br/>
            <a:r>
              <a:t>⚠ Energy Consumption: Training models requires significant power</a:t>
            </a:r>
            <a:br/>
            <a:br/>
            <a:r>
              <a:t>⚠ Regulation: Laws and policies still catching up</a:t>
            </a:r>
            <a:br/>
            <a:br/>
            <a:r>
              <a:t>⚠ Security: Adversarial attacks and model theft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6250" y="285750"/>
            <a:ext cx="112395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The Road Ahead: 2027 &amp; Beyond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238250"/>
            <a:ext cx="9906000" cy="5238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E0E0E0"/>
                </a:solidFill>
              </a:rPr>
              <a:t>Expected Developments:</a:t>
            </a:r>
            <a:br/>
            <a:br/>
            <a:r>
              <a:t>→ Superintelligent AI systems emerging</a:t>
            </a:r>
            <a:br/>
            <a:r>
              <a:t>→ Human-AI collaboration becomes mainstream</a:t>
            </a:r>
            <a:br/>
            <a:r>
              <a:t>→ Personalized AI assistants for every professional</a:t>
            </a:r>
            <a:br/>
            <a:r>
              <a:t>→ Real-time language translation solved</a:t>
            </a:r>
            <a:br/>
            <a:r>
              <a:t>→ AI-generated media indistinguishable from real</a:t>
            </a:r>
            <a:br/>
            <a:r>
              <a:t>→ Universal income discussions accelerate</a:t>
            </a:r>
            <a:br/>
            <a:r>
              <a:t>→ Global AI governance frameworks established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1905000"/>
            <a:ext cx="10287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00D9FF"/>
                </a:solidFill>
              </a:rPr>
              <a:t>The AI Revolution is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3333750"/>
            <a:ext cx="10287000" cy="1428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FFFFFF"/>
                </a:solidFill>
              </a:rPr>
              <a:t>Generative AI will reshape every industry in 2027</a:t>
            </a:r>
            <a:br/>
            <a:r>
              <a:t>The key is responsible development and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5238750"/>
            <a:ext cx="10287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FF6B35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